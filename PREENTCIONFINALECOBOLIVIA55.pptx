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7" r:id="rId3"/>
    <p:sldId id="258" r:id="rId4"/>
    <p:sldId id="259" r:id="rId5"/>
    <p:sldId id="260" r:id="rId6"/>
    <p:sldId id="261" r:id="rId7"/>
    <p:sldId id="262" r:id="rId8"/>
    <p:sldId id="277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8" r:id="rId18"/>
    <p:sldId id="280" r:id="rId19"/>
    <p:sldId id="281" r:id="rId20"/>
    <p:sldId id="272" r:id="rId21"/>
    <p:sldId id="275" r:id="rId22"/>
    <p:sldId id="276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12" autoAdjust="0"/>
    <p:restoredTop sz="94660"/>
  </p:normalViewPr>
  <p:slideViewPr>
    <p:cSldViewPr snapToGrid="0">
      <p:cViewPr varScale="1">
        <p:scale>
          <a:sx n="80" d="100"/>
          <a:sy n="80" d="100"/>
        </p:scale>
        <p:origin x="12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0487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487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Diapositiva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  <a:endParaRPr lang="es-E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  <a:endParaRPr lang="es-ES"/>
          </a:p>
          <a:p>
            <a:pPr lvl="1"/>
            <a:r>
              <a:rPr lang="es-ES"/>
              <a:t>Segundo nivel</a:t>
            </a:r>
            <a:endParaRPr lang="es-ES"/>
          </a:p>
          <a:p>
            <a:pPr lvl="2"/>
            <a:r>
              <a:rPr lang="es-ES"/>
              <a:t>Tercer nivel</a:t>
            </a:r>
            <a:endParaRPr lang="es-ES"/>
          </a:p>
          <a:p>
            <a:pPr lvl="3"/>
            <a:r>
              <a:rPr lang="es-ES"/>
              <a:t>Cuarto nivel</a:t>
            </a:r>
            <a:endParaRPr lang="es-ES"/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175" indent="-384175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13.jpeg"/><Relationship Id="rId4" Type="http://schemas.openxmlformats.org/officeDocument/2006/relationships/image" Target="../media/image12.png"/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4.jpe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ítulo 1"/>
          <p:cNvSpPr>
            <a:spLocks noGrp="1"/>
          </p:cNvSpPr>
          <p:nvPr>
            <p:ph type="ctrTitle"/>
          </p:nvPr>
        </p:nvSpPr>
        <p:spPr>
          <a:xfrm>
            <a:off x="1370961" y="145440"/>
            <a:ext cx="9144000" cy="1344987"/>
          </a:xfrm>
        </p:spPr>
        <p:txBody>
          <a:bodyPr>
            <a:normAutofit/>
          </a:bodyPr>
          <a:lstStyle/>
          <a:p>
            <a:pPr marL="1454150" marR="1454150">
              <a:lnSpc>
                <a:spcPct val="126000"/>
              </a:lnSpc>
              <a:spcBef>
                <a:spcPts val="760"/>
              </a:spcBef>
            </a:pPr>
            <a:r>
              <a:rPr lang="es-ES" sz="1800" b="1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UNIDAD EDUCATIVA TÉCNICO- HUMANÍSTICO </a:t>
            </a:r>
            <a:br>
              <a:rPr lang="es-ES" sz="1800" b="1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</a:br>
            <a:r>
              <a:rPr lang="es-ES" sz="1800" b="1" spc="-30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"PAULO</a:t>
            </a:r>
            <a:r>
              <a:rPr lang="es-ES" sz="1800" b="1" spc="-85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 </a:t>
            </a:r>
            <a:r>
              <a:rPr lang="es-ES" sz="1800" b="1" spc="-30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  <a:t>FREIRE"</a:t>
            </a:r>
            <a:br>
              <a:rPr lang="es-BO" sz="1800" b="1" dirty="0">
                <a:effectLst/>
                <a:latin typeface="Arial" panose="020B0604020202020204" pitchFamily="34" charset="0"/>
                <a:ea typeface="Trebuchet MS" panose="020B0603020202020204" pitchFamily="34" charset="0"/>
                <a:cs typeface="Arial" panose="020B0604020202020204" pitchFamily="34" charset="0"/>
              </a:rPr>
            </a:br>
            <a:r>
              <a:rPr lang="es-ES" sz="18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CARRERA</a:t>
            </a:r>
            <a:r>
              <a:rPr lang="es-ES" sz="1800" b="1" spc="-15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es-ES" sz="1800" b="1" spc="-1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b="1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SISTEMAS</a:t>
            </a:r>
            <a:r>
              <a:rPr lang="es-ES" sz="1800" b="1" spc="-2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800" b="1" spc="-10" dirty="0"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INFORMÁTICOS</a:t>
            </a:r>
            <a:endParaRPr lang="es-B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589" name="Subtítulo 2"/>
          <p:cNvSpPr>
            <a:spLocks noGrp="1"/>
          </p:cNvSpPr>
          <p:nvPr>
            <p:ph type="subTitle" idx="1"/>
          </p:nvPr>
        </p:nvSpPr>
        <p:spPr>
          <a:xfrm>
            <a:off x="1454500" y="3663439"/>
            <a:ext cx="9144000" cy="841327"/>
          </a:xfrm>
        </p:spPr>
        <p:txBody>
          <a:bodyPr/>
          <a:lstStyle/>
          <a:p>
            <a:pPr marL="1454150" marR="1454785" algn="ctr">
              <a:lnSpc>
                <a:spcPct val="100000"/>
              </a:lnSpc>
              <a:spcAft>
                <a:spcPts val="0"/>
              </a:spcAft>
            </a:pPr>
            <a:r>
              <a:rPr lang="en-US" altLang="es-MX" sz="1800" b="1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PR</a:t>
            </a:r>
            <a:r>
              <a:rPr lang="es-ES" sz="1800" b="1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OYECTO</a:t>
            </a:r>
            <a:r>
              <a:rPr lang="es-ES" sz="1800" b="1" spc="-35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s-ES" sz="1800" b="1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DE</a:t>
            </a:r>
            <a:r>
              <a:rPr lang="es-ES" sz="1800" b="1" spc="-2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 </a:t>
            </a:r>
            <a:r>
              <a:rPr lang="es-ES" sz="1800" b="1" spc="-10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INNOVACIÓN</a:t>
            </a:r>
            <a:endParaRPr lang="es-BO" sz="1800" dirty="0">
              <a:effectLst/>
              <a:latin typeface="Arial" panose="020B0604020202020204" pitchFamily="34" charset="0"/>
              <a:ea typeface="Arial M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lang="es-ES" sz="2000" b="1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 </a:t>
            </a:r>
            <a:r>
              <a:rPr lang="es-BO" sz="2000" b="1" dirty="0">
                <a:effectLst/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”</a:t>
            </a:r>
            <a:r>
              <a:rPr lang="es-BO" sz="2000" b="1" dirty="0"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PÁGINA WEB ECOBOLIVIA”</a:t>
            </a:r>
            <a:endParaRPr lang="es-BO" sz="2000" dirty="0">
              <a:effectLst/>
              <a:latin typeface="Arial" panose="020B0604020202020204" pitchFamily="34" charset="0"/>
              <a:ea typeface="Arial MT"/>
              <a:cs typeface="Arial" panose="020B0604020202020204" pitchFamily="34" charset="0"/>
            </a:endParaRPr>
          </a:p>
        </p:txBody>
      </p:sp>
      <p:pic>
        <p:nvPicPr>
          <p:cNvPr id="2097158" name="Imagen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6422" y="1344987"/>
            <a:ext cx="2520156" cy="2520156"/>
          </a:xfrm>
          <a:prstGeom prst="rect">
            <a:avLst/>
          </a:prstGeom>
        </p:spPr>
      </p:pic>
      <p:sp>
        <p:nvSpPr>
          <p:cNvPr id="1048590" name="CuadroTexto 7"/>
          <p:cNvSpPr txBox="1"/>
          <p:nvPr/>
        </p:nvSpPr>
        <p:spPr>
          <a:xfrm>
            <a:off x="3464608" y="4392196"/>
            <a:ext cx="9607283" cy="1056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sz="1600" b="1" dirty="0">
                <a:latin typeface="Arial" panose="020B0604020202020204" pitchFamily="34" charset="0"/>
                <a:cs typeface="Arial" panose="020B0604020202020204" pitchFamily="34" charset="0"/>
              </a:rPr>
              <a:t>INTEGRANTES:</a:t>
            </a:r>
            <a:endParaRPr lang="es-BO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s-BO" sz="1600" dirty="0" err="1">
                <a:latin typeface="Arial" panose="020B0604020202020204" pitchFamily="34" charset="0"/>
                <a:cs typeface="Arial" panose="020B0604020202020204" pitchFamily="34" charset="0"/>
              </a:rPr>
              <a:t>elgadillo</a:t>
            </a:r>
            <a:r>
              <a:rPr lang="es-BO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BO" sz="1600" dirty="0" err="1">
                <a:latin typeface="Arial" panose="020B0604020202020204" pitchFamily="34" charset="0"/>
                <a:cs typeface="Arial" panose="020B0604020202020204" pitchFamily="34" charset="0"/>
              </a:rPr>
              <a:t>Yucra</a:t>
            </a:r>
            <a:r>
              <a:rPr lang="es-BO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BO" sz="1600" dirty="0" err="1">
                <a:latin typeface="Arial" panose="020B0604020202020204" pitchFamily="34" charset="0"/>
                <a:cs typeface="Arial" panose="020B0604020202020204" pitchFamily="34" charset="0"/>
              </a:rPr>
              <a:t>Rocio</a:t>
            </a:r>
            <a:r>
              <a:rPr lang="es-BO" sz="1600" dirty="0">
                <a:latin typeface="Arial" panose="020B0604020202020204" pitchFamily="34" charset="0"/>
                <a:cs typeface="Arial" panose="020B0604020202020204" pitchFamily="34" charset="0"/>
              </a:rPr>
              <a:t> Lucero</a:t>
            </a:r>
            <a:endParaRPr lang="es-BO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s-BO" sz="1600" dirty="0" err="1">
                <a:latin typeface="Arial" panose="020B0604020202020204" pitchFamily="34" charset="0"/>
                <a:cs typeface="Arial" panose="020B0604020202020204" pitchFamily="34" charset="0"/>
              </a:rPr>
              <a:t>onzales</a:t>
            </a:r>
            <a:r>
              <a:rPr lang="es-BO" sz="1600" dirty="0">
                <a:latin typeface="Arial" panose="020B0604020202020204" pitchFamily="34" charset="0"/>
                <a:cs typeface="Arial" panose="020B0604020202020204" pitchFamily="34" charset="0"/>
              </a:rPr>
              <a:t> Ortega </a:t>
            </a:r>
            <a:r>
              <a:rPr lang="es-BO" sz="1600" dirty="0" err="1">
                <a:latin typeface="Arial" panose="020B0604020202020204" pitchFamily="34" charset="0"/>
                <a:cs typeface="Arial" panose="020B0604020202020204" pitchFamily="34" charset="0"/>
              </a:rPr>
              <a:t>Maria</a:t>
            </a:r>
            <a:r>
              <a:rPr lang="es-BO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BO" sz="1600" dirty="0" err="1">
                <a:latin typeface="Arial" panose="020B0604020202020204" pitchFamily="34" charset="0"/>
                <a:cs typeface="Arial" panose="020B0604020202020204" pitchFamily="34" charset="0"/>
              </a:rPr>
              <a:t>Belen</a:t>
            </a:r>
            <a:r>
              <a:rPr lang="es-BO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BO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s-BO" sz="1600" dirty="0" err="1">
                <a:latin typeface="Arial" panose="020B0604020202020204" pitchFamily="34" charset="0"/>
                <a:cs typeface="Arial" panose="020B0604020202020204" pitchFamily="34" charset="0"/>
              </a:rPr>
              <a:t>anco</a:t>
            </a:r>
            <a:r>
              <a:rPr lang="es-BO" sz="1600" dirty="0">
                <a:latin typeface="Arial" panose="020B0604020202020204" pitchFamily="34" charset="0"/>
                <a:cs typeface="Arial" panose="020B0604020202020204" pitchFamily="34" charset="0"/>
              </a:rPr>
              <a:t> Lafuente Dayana Amparo</a:t>
            </a:r>
            <a:endParaRPr lang="es-BO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591" name="Subtítulo 2"/>
          <p:cNvSpPr txBox="1"/>
          <p:nvPr/>
        </p:nvSpPr>
        <p:spPr>
          <a:xfrm>
            <a:off x="1524000" y="6177595"/>
            <a:ext cx="9144000" cy="34670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54150" marR="1454785"/>
            <a:r>
              <a:rPr lang="es-ES" sz="2000" b="1" dirty="0">
                <a:latin typeface="Arial" panose="020B0604020202020204" pitchFamily="34" charset="0"/>
                <a:ea typeface="Arial MT"/>
                <a:cs typeface="Arial" panose="020B0604020202020204" pitchFamily="34" charset="0"/>
              </a:rPr>
              <a:t>2025</a:t>
            </a:r>
            <a:endParaRPr lang="es-BO" sz="2000" dirty="0">
              <a:latin typeface="Arial" panose="020B0604020202020204" pitchFamily="34" charset="0"/>
              <a:ea typeface="Arial M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BO" sz="2400" dirty="0">
                <a:latin typeface="Arial" panose="020B0604020202020204" pitchFamily="34" charset="0"/>
                <a:cs typeface="Arial" panose="020B0604020202020204" pitchFamily="34" charset="0"/>
              </a:rPr>
              <a:t>INTRODUCCIÓN</a:t>
            </a:r>
            <a:endParaRPr lang="es-BO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599" name="Marcador de contenido 2"/>
          <p:cNvSpPr>
            <a:spLocks noGrp="1"/>
          </p:cNvSpPr>
          <p:nvPr>
            <p:ph sz="half" idx="1"/>
          </p:nvPr>
        </p:nvSpPr>
        <p:spPr>
          <a:xfrm>
            <a:off x="1160995" y="1318383"/>
            <a:ext cx="10531679" cy="2374653"/>
          </a:xfrm>
          <a:ln w="50800">
            <a:solidFill>
              <a:srgbClr val="000000"/>
            </a:solidFill>
            <a:prstDash val="solid"/>
          </a:ln>
        </p:spPr>
        <p:txBody>
          <a:bodyPr>
            <a:noAutofit/>
          </a:bodyPr>
          <a:lstStyle/>
          <a:p>
            <a:r>
              <a:rPr lang="es-ES" sz="2400" dirty="0"/>
              <a:t>Este proyecto propone una </a:t>
            </a:r>
            <a:r>
              <a:rPr lang="en-US" altLang="es-MX" sz="2400" dirty="0"/>
              <a:t>página </a:t>
            </a:r>
            <a:r>
              <a:rPr lang="es-ES" sz="2400" dirty="0"/>
              <a:t>web educativa para motivar a los jóvenes a cuidar el medio ambiente. Nace en la Unidad Educativa Paulo Freire, en Sacaba, ante la contaminación en lugares públicos. Busca crear conciencia y promover acciones como reciclar  y tomar mas conciencia sobre el cuidado de nuestro ecosistema. Con la ayuda de la tecnología, queremos inspirar a los estudiantes a ser ejemplo y generar un cambio positivo en la comunidad</a:t>
            </a:r>
            <a:r>
              <a:rPr lang="es-ES" sz="2000" dirty="0"/>
              <a:t>.</a:t>
            </a:r>
            <a:endParaRPr lang="es-BO" sz="2000" dirty="0"/>
          </a:p>
        </p:txBody>
      </p:sp>
      <p:pic>
        <p:nvPicPr>
          <p:cNvPr id="2" name="Imagen 1"/>
          <p:cNvPicPr/>
          <p:nvPr/>
        </p:nvPicPr>
        <p:blipFill>
          <a:blip r:embed="rId1"/>
          <a:stretch>
            <a:fillRect/>
          </a:stretch>
        </p:blipFill>
        <p:spPr>
          <a:xfrm>
            <a:off x="4231005" y="3831590"/>
            <a:ext cx="4586605" cy="2829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104859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Título 1"/>
          <p:cNvSpPr>
            <a:spLocks noGrp="1"/>
          </p:cNvSpPr>
          <p:nvPr>
            <p:ph type="title"/>
          </p:nvPr>
        </p:nvSpPr>
        <p:spPr>
          <a:xfrm>
            <a:off x="1295400" y="889000"/>
            <a:ext cx="9601200" cy="482600"/>
          </a:xfrm>
        </p:spPr>
        <p:txBody>
          <a:bodyPr>
            <a:normAutofit/>
          </a:bodyPr>
          <a:lstStyle/>
          <a:p>
            <a:r>
              <a:rPr lang="es-BO" sz="2400" dirty="0">
                <a:latin typeface="Arial" panose="020B0604020202020204" pitchFamily="34" charset="0"/>
                <a:cs typeface="Arial" panose="020B0604020202020204" pitchFamily="34" charset="0"/>
              </a:rPr>
              <a:t>PLANTEAMIENTO DEL PROBLEMA</a:t>
            </a:r>
            <a:endParaRPr lang="es-BO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601" name="CuadroTexto 2"/>
          <p:cNvSpPr txBox="1"/>
          <p:nvPr/>
        </p:nvSpPr>
        <p:spPr>
          <a:xfrm>
            <a:off x="1295400" y="1371709"/>
            <a:ext cx="1051560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s-MX" sz="2400" dirty="0"/>
              <a:t>A medida que la humanidad se ha ido desarrollando, el rápido avance de la urbanización e industrializacióntambién se han ido creando nuevas formas de contaminación, el excesivo uso de productos químicos e insecticidas a provocado el deterioro de la capa de ozono y de ecosistemas</a:t>
            </a:r>
            <a:endParaRPr lang="es-BO" sz="2400" dirty="0"/>
          </a:p>
          <a:p>
            <a:r>
              <a:rPr lang="en-US" altLang="es-MX" sz="2400" dirty="0"/>
              <a:t>Según la OMS y la ley de Medio Ambiente 1333 Cochabamba es el más elevado en contaminación de aire</a:t>
            </a:r>
            <a:r>
              <a:rPr lang="en-US" altLang="es-MX" sz="2800" dirty="0"/>
              <a:t>. </a:t>
            </a:r>
            <a:endParaRPr lang="es-BO" sz="2800" dirty="0"/>
          </a:p>
        </p:txBody>
      </p:sp>
      <p:pic>
        <p:nvPicPr>
          <p:cNvPr id="2" name="Imagen 1"/>
          <p:cNvPicPr/>
          <p:nvPr/>
        </p:nvPicPr>
        <p:blipFill>
          <a:blip r:embed="rId1"/>
          <a:stretch>
            <a:fillRect/>
          </a:stretch>
        </p:blipFill>
        <p:spPr>
          <a:xfrm>
            <a:off x="3495040" y="3741420"/>
            <a:ext cx="5621020" cy="28975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ítulo 1"/>
          <p:cNvSpPr>
            <a:spLocks noGrp="1"/>
          </p:cNvSpPr>
          <p:nvPr>
            <p:ph type="title"/>
          </p:nvPr>
        </p:nvSpPr>
        <p:spPr>
          <a:xfrm>
            <a:off x="1459159" y="514690"/>
            <a:ext cx="4979895" cy="475910"/>
          </a:xfrm>
        </p:spPr>
        <p:txBody>
          <a:bodyPr>
            <a:normAutofit/>
          </a:bodyPr>
          <a:lstStyle/>
          <a:p>
            <a:r>
              <a:rPr lang="es-BO" sz="2400" dirty="0">
                <a:latin typeface="Arial" panose="020B0604020202020204" pitchFamily="34" charset="0"/>
                <a:cs typeface="Arial" panose="020B0604020202020204" pitchFamily="34" charset="0"/>
              </a:rPr>
              <a:t>FORMULACIÓN EL PROBLEMA</a:t>
            </a:r>
            <a:endParaRPr lang="es-BO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603" name="CuadroTexto 3"/>
          <p:cNvSpPr txBox="1"/>
          <p:nvPr/>
        </p:nvSpPr>
        <p:spPr>
          <a:xfrm>
            <a:off x="1459158" y="1223682"/>
            <a:ext cx="98438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¿Cómo podemos, desde nuestra unidad educativa, fomentar la conciencia ambiental en los estudiantes mediante una página web que sea educativa, interactiva y divertida?</a:t>
            </a:r>
            <a:endParaRPr lang="es-BO" sz="2400" dirty="0"/>
          </a:p>
        </p:txBody>
      </p:sp>
      <p:sp>
        <p:nvSpPr>
          <p:cNvPr id="1048604" name="Título 1"/>
          <p:cNvSpPr txBox="1"/>
          <p:nvPr/>
        </p:nvSpPr>
        <p:spPr>
          <a:xfrm>
            <a:off x="1459158" y="2956663"/>
            <a:ext cx="4979895" cy="8585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BO" sz="2400" dirty="0">
                <a:latin typeface="Arial" panose="020B0604020202020204" pitchFamily="34" charset="0"/>
                <a:cs typeface="Arial" panose="020B0604020202020204" pitchFamily="34" charset="0"/>
              </a:rPr>
              <a:t>OBJETIVO GENERAL</a:t>
            </a:r>
            <a:endParaRPr lang="es-BO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605" name="CuadroTexto 5"/>
          <p:cNvSpPr txBox="1"/>
          <p:nvPr/>
        </p:nvSpPr>
        <p:spPr>
          <a:xfrm>
            <a:off x="1459158" y="3815220"/>
            <a:ext cx="984384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Diseñar y desarrollar una página web educativa, interactiva e informativa que motive a los estudiantes a proteger el medio ambiente mediante actividades simples, creativas y entretenidas que promuevan la conciencia.</a:t>
            </a:r>
            <a:endParaRPr lang="es-BO" sz="2400" dirty="0"/>
          </a:p>
          <a:p>
            <a:endParaRPr lang="es-BO" sz="2400" dirty="0"/>
          </a:p>
          <a:p>
            <a:endParaRPr lang="es-BO" sz="2400" dirty="0"/>
          </a:p>
          <a:p>
            <a:endParaRPr lang="es-BO" sz="2400" dirty="0"/>
          </a:p>
          <a:p>
            <a:endParaRPr lang="es-BO" sz="2400" dirty="0"/>
          </a:p>
        </p:txBody>
      </p:sp>
      <p:sp>
        <p:nvSpPr>
          <p:cNvPr id="1048606" name="Título 1"/>
          <p:cNvSpPr txBox="1"/>
          <p:nvPr/>
        </p:nvSpPr>
        <p:spPr>
          <a:xfrm>
            <a:off x="7113494" y="365124"/>
            <a:ext cx="4979895" cy="42666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BO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s-BO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ítulo 1"/>
          <p:cNvSpPr>
            <a:spLocks noGrp="1"/>
          </p:cNvSpPr>
          <p:nvPr>
            <p:ph type="title"/>
          </p:nvPr>
        </p:nvSpPr>
        <p:spPr>
          <a:xfrm>
            <a:off x="1371600" y="987831"/>
            <a:ext cx="9601200" cy="495300"/>
          </a:xfrm>
        </p:spPr>
        <p:txBody>
          <a:bodyPr>
            <a:normAutofit/>
          </a:bodyPr>
          <a:lstStyle/>
          <a:p>
            <a:r>
              <a:rPr lang="en-US" sz="2400" dirty="0"/>
              <a:t>OBJETIVOS ESPECÍFICOS </a:t>
            </a:r>
            <a:endParaRPr lang="en-US" sz="2400" dirty="0"/>
          </a:p>
        </p:txBody>
      </p:sp>
      <p:sp>
        <p:nvSpPr>
          <p:cNvPr id="1048614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048615" name="CuadroTexto 5"/>
          <p:cNvSpPr txBox="1"/>
          <p:nvPr/>
        </p:nvSpPr>
        <p:spPr>
          <a:xfrm>
            <a:off x="1204631" y="2090216"/>
            <a:ext cx="929042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Incorporar un mapa interactivo que proporcione información sobre la flora y fauna que está en peligro de extinción</a:t>
            </a:r>
            <a:endParaRPr lang="en-US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Implementar un espacio que proporcione información de distintos grupos de ayuda o apoyo para que el usuario pueda unirse y participar</a:t>
            </a:r>
            <a:endParaRPr lang="en-US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Diseñar una sección de tutoriales simples que enseñen cómo reutilizar y reciclar materiales de forma práctica.</a:t>
            </a:r>
            <a:endParaRPr lang="en-US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Implementar una función para que los estudiantes puedan subir fotos como evidencia de sus acciones ambientales y participar de minijuegos lúdicos.</a:t>
            </a:r>
            <a:endParaRPr lang="en-US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Incluir una sección donde dé a conocer información sobre algunas de las especies más emblemáticas de Bolivia y su estado actual.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Título 1"/>
          <p:cNvSpPr>
            <a:spLocks noGrp="1"/>
          </p:cNvSpPr>
          <p:nvPr>
            <p:ph type="title"/>
          </p:nvPr>
        </p:nvSpPr>
        <p:spPr>
          <a:xfrm>
            <a:off x="1413170" y="873125"/>
            <a:ext cx="3721100" cy="498475"/>
          </a:xfrm>
        </p:spPr>
        <p:txBody>
          <a:bodyPr>
            <a:normAutofit/>
          </a:bodyPr>
          <a:lstStyle/>
          <a:p>
            <a:r>
              <a:rPr lang="es-BO" sz="2400" dirty="0">
                <a:latin typeface="Arial" panose="020B0604020202020204" pitchFamily="34" charset="0"/>
                <a:cs typeface="Arial" panose="020B0604020202020204" pitchFamily="34" charset="0"/>
              </a:rPr>
              <a:t>JUSTIFICACIÓN</a:t>
            </a:r>
            <a:endParaRPr lang="es-BO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617" name="CuadroTexto 2"/>
          <p:cNvSpPr txBox="1"/>
          <p:nvPr/>
        </p:nvSpPr>
        <p:spPr>
          <a:xfrm>
            <a:off x="1514770" y="1371352"/>
            <a:ext cx="997873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Eco Bolivia tiene como tiene como objetivo ser una página fácil y divertida para lograr que los adolescentes se diviertan, se informen y se eduquen mientras cuidan el planeta. Esta aplicación responde a diversas razones, entre ellas la perdida de nuestra diversidad ecológica y su riesgo de extinción. </a:t>
            </a:r>
            <a:endParaRPr lang="es-ES" sz="2400" dirty="0"/>
          </a:p>
          <a:p>
            <a:r>
              <a:rPr lang="es-ES" sz="2400" dirty="0"/>
              <a:t>Nuestra visión es que la aplicación logre concientizar a la población boliviana y animarla a cuidar más de su planeta.</a:t>
            </a:r>
            <a:endParaRPr lang="es-ES" sz="2400" dirty="0"/>
          </a:p>
        </p:txBody>
      </p:sp>
      <p:pic>
        <p:nvPicPr>
          <p:cNvPr id="2" name="Imagen 1"/>
          <p:cNvPicPr/>
          <p:nvPr/>
        </p:nvPicPr>
        <p:blipFill>
          <a:blip r:embed="rId1"/>
          <a:stretch>
            <a:fillRect/>
          </a:stretch>
        </p:blipFill>
        <p:spPr>
          <a:xfrm>
            <a:off x="4163060" y="4151630"/>
            <a:ext cx="4458335" cy="2425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586110"/>
            <a:ext cx="4940300" cy="533400"/>
          </a:xfrm>
        </p:spPr>
        <p:txBody>
          <a:bodyPr>
            <a:normAutofit/>
          </a:bodyPr>
          <a:lstStyle/>
          <a:p>
            <a:r>
              <a:rPr lang="es-MX" sz="2400" dirty="0"/>
              <a:t>MARCO CONCEPTUAL </a:t>
            </a:r>
            <a:endParaRPr lang="es-BO" sz="2400" dirty="0"/>
          </a:p>
        </p:txBody>
      </p:sp>
      <p:graphicFrame>
        <p:nvGraphicFramePr>
          <p:cNvPr id="5" name="Tabla 5"/>
          <p:cNvGraphicFramePr>
            <a:graphicFrameLocks noGrp="1"/>
          </p:cNvGraphicFramePr>
          <p:nvPr>
            <p:ph idx="1"/>
          </p:nvPr>
        </p:nvGraphicFramePr>
        <p:xfrm>
          <a:off x="1371600" y="1219200"/>
          <a:ext cx="9601200" cy="507809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400300"/>
                <a:gridCol w="7200900"/>
              </a:tblGrid>
              <a:tr h="1108705">
                <a:tc>
                  <a:txBody>
                    <a:bodyPr/>
                    <a:lstStyle/>
                    <a:p>
                      <a:pPr algn="ctr"/>
                      <a:r>
                        <a:rPr lang="es-BO" dirty="0"/>
                        <a:t>Conciencia Ecológica</a:t>
                      </a:r>
                      <a:endParaRPr lang="es-B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b="0" dirty="0"/>
                        <a:t>Según Leff 2010 Hace referencia a la percepción y sensibilidad de las personas sobre el impacto de sus acciones en el entorno natural, promoviendo hábitos responsables </a:t>
                      </a:r>
                      <a:endParaRPr lang="es-BO" b="0" dirty="0"/>
                    </a:p>
                  </a:txBody>
                  <a:tcPr/>
                </a:tc>
              </a:tr>
              <a:tr h="1108705">
                <a:tc>
                  <a:txBody>
                    <a:bodyPr/>
                    <a:lstStyle/>
                    <a:p>
                      <a:pPr algn="ctr"/>
                      <a:r>
                        <a:rPr lang="es-BO" b="1" dirty="0"/>
                        <a:t>Gamificación</a:t>
                      </a:r>
                      <a:endParaRPr lang="es-BO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Según Deterding </a:t>
                      </a:r>
                      <a:r>
                        <a:rPr lang="da-DK" dirty="0"/>
                        <a:t>(2011) es un </a:t>
                      </a:r>
                      <a:r>
                        <a:rPr lang="es-MX" dirty="0"/>
                        <a:t>estrategia que aplica elementos de juego en contextos no lúdicos para motivar la participación y el aprendizaje </a:t>
                      </a:r>
                      <a:endParaRPr lang="es-BO" dirty="0"/>
                    </a:p>
                  </a:txBody>
                  <a:tcPr/>
                </a:tc>
              </a:tr>
              <a:tr h="1397640">
                <a:tc>
                  <a:txBody>
                    <a:bodyPr/>
                    <a:lstStyle/>
                    <a:p>
                      <a:pPr algn="ctr"/>
                      <a:r>
                        <a:rPr lang="es-BO" b="1" dirty="0"/>
                        <a:t>Flora y fauna</a:t>
                      </a:r>
                      <a:endParaRPr lang="es-BO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Según Sidap (2025)Se refiere a las plantas y animales respectivamente. Estos términos son a menudo utilizados para referirse a las plantas y animales autóctonos de una determinada región geográfica o característicos de un determinado período de tiempo. </a:t>
                      </a:r>
                      <a:endParaRPr lang="es-BO" dirty="0"/>
                    </a:p>
                  </a:txBody>
                  <a:tcPr/>
                </a:tc>
              </a:tr>
              <a:tr h="1397640">
                <a:tc>
                  <a:txBody>
                    <a:bodyPr/>
                    <a:lstStyle/>
                    <a:p>
                      <a:pPr algn="ctr"/>
                      <a:r>
                        <a:rPr lang="es-BO" b="1" dirty="0"/>
                        <a:t>Ley del Medio Ambiente</a:t>
                      </a:r>
                      <a:r>
                        <a:rPr lang="es-BO" dirty="0"/>
                        <a:t>	</a:t>
                      </a:r>
                      <a:endParaRPr lang="es-B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Según la ley 1333 (2009)  La presente Ley tiene por objeto la protección y conservación del medio ambiente y los recursos naturales, regulando las acciones del hombre con relación a la naturaleza y promoviendo el desarrollo sostenible con la finalidad de mejorar la calidad de vida de la población. </a:t>
                      </a:r>
                      <a:endParaRPr lang="es-BO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ítulo 1"/>
          <p:cNvSpPr>
            <a:spLocks noGrp="1"/>
          </p:cNvSpPr>
          <p:nvPr>
            <p:ph type="title"/>
          </p:nvPr>
        </p:nvSpPr>
        <p:spPr>
          <a:xfrm>
            <a:off x="838199" y="344374"/>
            <a:ext cx="10515600" cy="979581"/>
          </a:xfrm>
        </p:spPr>
        <p:txBody>
          <a:bodyPr>
            <a:normAutofit/>
          </a:bodyPr>
          <a:lstStyle/>
          <a:p>
            <a:r>
              <a:rPr lang="es-BO" sz="2400" dirty="0">
                <a:latin typeface="Arial" panose="020B0604020202020204" pitchFamily="34" charset="0"/>
                <a:cs typeface="Arial" panose="020B0604020202020204" pitchFamily="34" charset="0"/>
              </a:rPr>
              <a:t>DESARROLLO DE LA INNOVACI</a:t>
            </a:r>
            <a:r>
              <a:rPr lang="es-MX" sz="2400" dirty="0">
                <a:latin typeface="Arial" panose="020B0604020202020204" pitchFamily="34" charset="0"/>
                <a:cs typeface="Arial" panose="020B0604020202020204" pitchFamily="34" charset="0"/>
              </a:rPr>
              <a:t>Ó</a:t>
            </a:r>
            <a:r>
              <a:rPr lang="es-BO" sz="24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endParaRPr lang="zh-CN" altLang="en-US" dirty="0"/>
          </a:p>
        </p:txBody>
      </p:sp>
      <p:pic>
        <p:nvPicPr>
          <p:cNvPr id="2097159" name="Imagen 2097153"/>
          <p:cNvPicPr/>
          <p:nvPr/>
        </p:nvPicPr>
        <p:blipFill>
          <a:blip r:embed="rId1"/>
          <a:stretch>
            <a:fillRect/>
          </a:stretch>
        </p:blipFill>
        <p:spPr>
          <a:xfrm>
            <a:off x="711200" y="1604881"/>
            <a:ext cx="5778500" cy="4629474"/>
          </a:xfrm>
          <a:prstGeom prst="rect">
            <a:avLst/>
          </a:prstGeom>
        </p:spPr>
      </p:pic>
      <p:pic>
        <p:nvPicPr>
          <p:cNvPr id="2097160" name="Imagen 2097154"/>
          <p:cNvPicPr/>
          <p:nvPr/>
        </p:nvPicPr>
        <p:blipFill>
          <a:blip r:embed="rId2"/>
          <a:stretch>
            <a:fillRect/>
          </a:stretch>
        </p:blipFill>
        <p:spPr>
          <a:xfrm>
            <a:off x="6769100" y="1604881"/>
            <a:ext cx="5422900" cy="4301963"/>
          </a:xfrm>
          <a:prstGeom prst="rect">
            <a:avLst/>
          </a:prstGeom>
        </p:spPr>
      </p:pic>
      <p:sp>
        <p:nvSpPr>
          <p:cNvPr id="1048620" name="CuadroTexto 1048679"/>
          <p:cNvSpPr txBox="1"/>
          <p:nvPr/>
        </p:nvSpPr>
        <p:spPr>
          <a:xfrm>
            <a:off x="838199" y="787400"/>
            <a:ext cx="7415235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s-BO" sz="2400" dirty="0">
                <a:solidFill>
                  <a:srgbClr val="000000"/>
                </a:solidFill>
              </a:rPr>
              <a:t>Diseño de producto o servicio</a:t>
            </a:r>
            <a:endParaRPr lang="es-BO" sz="2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Marcador de contenido 1048681"/>
          <p:cNvSpPr>
            <a:spLocks noGrp="1"/>
          </p:cNvSpPr>
          <p:nvPr>
            <p:ph sz="half" idx="1"/>
          </p:nvPr>
        </p:nvSpPr>
        <p:spPr>
          <a:xfrm>
            <a:off x="1676549" y="1319222"/>
            <a:ext cx="9119841" cy="25717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sz="1600" dirty="0"/>
              <a:t>	Un mapa en el que se pueda observar las áreas de Bolivia en las que se verá las diferentes           especies de flora y fauna en peligro de extinción.</a:t>
            </a:r>
            <a:endParaRPr lang="es-BO" sz="1600" dirty="0"/>
          </a:p>
          <a:p>
            <a:pPr marL="0" indent="0">
              <a:buNone/>
            </a:pPr>
            <a:r>
              <a:rPr lang="es-MX" sz="1600" dirty="0"/>
              <a:t>	Una sección en la que se observará tutoriales de como reutilizar y reciclar.</a:t>
            </a:r>
            <a:endParaRPr lang="es-BO" sz="1600" dirty="0"/>
          </a:p>
          <a:p>
            <a:pPr marL="0" indent="0">
              <a:buNone/>
            </a:pPr>
            <a:r>
              <a:rPr lang="es-MX" sz="1600" dirty="0"/>
              <a:t>	Una sección en la que las personas podrán unirse a grupos de ayuda.</a:t>
            </a:r>
            <a:endParaRPr lang="es-BO" sz="1600" dirty="0"/>
          </a:p>
          <a:p>
            <a:pPr marL="0" indent="0">
              <a:buNone/>
            </a:pPr>
            <a:r>
              <a:rPr lang="es-MX" sz="1600" dirty="0"/>
              <a:t>	Una sección en la que los usuarios suban una fotografía del trabajo que ha realizado.</a:t>
            </a:r>
            <a:endParaRPr lang="es-BO" sz="1600" dirty="0"/>
          </a:p>
          <a:p>
            <a:pPr marL="0" indent="0">
              <a:buNone/>
            </a:pPr>
            <a:r>
              <a:rPr lang="es-MX" sz="1600" dirty="0"/>
              <a:t>	Una sección donde se podrá ver la información de animales y plantas en peligro de extinción. </a:t>
            </a:r>
            <a:endParaRPr lang="es-BO" sz="1600" dirty="0"/>
          </a:p>
          <a:p>
            <a:endParaRPr lang="es-BO" sz="1600" dirty="0"/>
          </a:p>
        </p:txBody>
      </p:sp>
      <p:sp>
        <p:nvSpPr>
          <p:cNvPr id="1048622" name="Marcador de contenido 1048682"/>
          <p:cNvSpPr>
            <a:spLocks noGrp="1"/>
          </p:cNvSpPr>
          <p:nvPr>
            <p:ph sz="half" idx="2"/>
          </p:nvPr>
        </p:nvSpPr>
        <p:spPr>
          <a:xfrm>
            <a:off x="1676549" y="4861185"/>
            <a:ext cx="9523505" cy="147626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sz="1600" dirty="0"/>
              <a:t>	Concientizar a la población sobre la gran cantidad de basura.</a:t>
            </a:r>
            <a:endParaRPr lang="es-BO" sz="1600" dirty="0"/>
          </a:p>
          <a:p>
            <a:pPr marL="0" indent="0">
              <a:buNone/>
            </a:pPr>
            <a:r>
              <a:rPr lang="es-MX" sz="1600" dirty="0"/>
              <a:t>	Permitir que puedan reciclar y reutilizar materiales en desuso.</a:t>
            </a:r>
            <a:endParaRPr lang="es-BO" sz="1600" dirty="0"/>
          </a:p>
          <a:p>
            <a:pPr marL="0" indent="0">
              <a:buNone/>
            </a:pPr>
            <a:r>
              <a:rPr lang="es-MX" sz="1600" dirty="0"/>
              <a:t>	Permitir que puedan unirse a grupos de ayuda. </a:t>
            </a:r>
            <a:endParaRPr lang="es-BO" sz="1600" dirty="0"/>
          </a:p>
          <a:p>
            <a:pPr marL="0" indent="0">
              <a:buNone/>
            </a:pPr>
            <a:r>
              <a:rPr lang="es-MX" sz="1600" dirty="0"/>
              <a:t>	Concientizar e informar sobre las especies en peligro de extinción en Bolivia.</a:t>
            </a:r>
            <a:endParaRPr lang="es-BO" sz="1600" dirty="0"/>
          </a:p>
          <a:p>
            <a:endParaRPr lang="es-BO" sz="1600" dirty="0"/>
          </a:p>
        </p:txBody>
      </p:sp>
      <p:sp>
        <p:nvSpPr>
          <p:cNvPr id="1048623" name="CuadroTexto 1048684"/>
          <p:cNvSpPr txBox="1"/>
          <p:nvPr/>
        </p:nvSpPr>
        <p:spPr>
          <a:xfrm>
            <a:off x="1676549" y="780916"/>
            <a:ext cx="9206214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es-MX" sz="2400" dirty="0">
                <a:solidFill>
                  <a:srgbClr val="000000"/>
                </a:solidFill>
              </a:rPr>
              <a:t>Características del producto o servicio </a:t>
            </a:r>
            <a:endParaRPr lang="es-BO" sz="2400" dirty="0">
              <a:solidFill>
                <a:srgbClr val="000000"/>
              </a:solidFill>
            </a:endParaRPr>
          </a:p>
        </p:txBody>
      </p:sp>
      <p:sp>
        <p:nvSpPr>
          <p:cNvPr id="1048624" name="CuadroTexto 1048685"/>
          <p:cNvSpPr txBox="1"/>
          <p:nvPr/>
        </p:nvSpPr>
        <p:spPr>
          <a:xfrm>
            <a:off x="1676549" y="4145246"/>
            <a:ext cx="5804943" cy="4616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es-MX" sz="2400" dirty="0">
                <a:solidFill>
                  <a:srgbClr val="000000"/>
                </a:solidFill>
              </a:rPr>
              <a:t>Utilidad del producto o servicio</a:t>
            </a:r>
            <a:endParaRPr lang="es-BO" sz="2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Título 1048686"/>
          <p:cNvSpPr>
            <a:spLocks noGrp="1"/>
          </p:cNvSpPr>
          <p:nvPr>
            <p:ph type="title"/>
          </p:nvPr>
        </p:nvSpPr>
        <p:spPr>
          <a:xfrm>
            <a:off x="1371600" y="777064"/>
            <a:ext cx="9294609" cy="427071"/>
          </a:xfrm>
        </p:spPr>
        <p:txBody>
          <a:bodyPr>
            <a:normAutofit/>
          </a:bodyPr>
          <a:lstStyle/>
          <a:p>
            <a:r>
              <a:rPr lang="en-US" altLang="es-MX" sz="2400" dirty="0"/>
              <a:t>Calidad del producto o servicio</a:t>
            </a:r>
            <a:endParaRPr lang="es-BO" sz="2400" dirty="0"/>
          </a:p>
        </p:txBody>
      </p:sp>
      <p:sp>
        <p:nvSpPr>
          <p:cNvPr id="1048626" name="Marcador de contenido 1048687"/>
          <p:cNvSpPr>
            <a:spLocks noGrp="1"/>
          </p:cNvSpPr>
          <p:nvPr>
            <p:ph idx="1"/>
          </p:nvPr>
        </p:nvSpPr>
        <p:spPr>
          <a:xfrm>
            <a:off x="1371600" y="1498600"/>
            <a:ext cx="9690100" cy="1422400"/>
          </a:xfrm>
        </p:spPr>
        <p:txBody>
          <a:bodyPr>
            <a:normAutofit fontScale="92500"/>
          </a:bodyPr>
          <a:lstStyle/>
          <a:p>
            <a:r>
              <a:rPr lang="es-MX" sz="2400" dirty="0"/>
              <a:t>	Diseño responsive, se adaptará a cualquier dispositivo tecnológico.</a:t>
            </a:r>
            <a:endParaRPr lang="es-BO" sz="2400" dirty="0"/>
          </a:p>
          <a:p>
            <a:r>
              <a:rPr lang="es-MX" sz="2400" dirty="0"/>
              <a:t>	Velocidad de carga rápida.</a:t>
            </a:r>
            <a:endParaRPr lang="es-BO" sz="2400" dirty="0"/>
          </a:p>
          <a:p>
            <a:r>
              <a:rPr lang="es-MX" sz="2400" dirty="0"/>
              <a:t>	Información verídica y confiable. </a:t>
            </a:r>
            <a:endParaRPr lang="es-BO" sz="2400" dirty="0"/>
          </a:p>
          <a:p>
            <a:endParaRPr lang="es-BO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Título 1"/>
          <p:cNvSpPr>
            <a:spLocks noGrp="1"/>
          </p:cNvSpPr>
          <p:nvPr>
            <p:ph type="title"/>
          </p:nvPr>
        </p:nvSpPr>
        <p:spPr>
          <a:xfrm>
            <a:off x="1280644" y="428692"/>
            <a:ext cx="10515600" cy="511175"/>
          </a:xfrm>
        </p:spPr>
        <p:txBody>
          <a:bodyPr>
            <a:normAutofit/>
          </a:bodyPr>
          <a:lstStyle/>
          <a:p>
            <a:r>
              <a:rPr lang="es-BO" sz="2400" dirty="0">
                <a:latin typeface="Arial" panose="020B0604020202020204" pitchFamily="34" charset="0"/>
                <a:cs typeface="Arial" panose="020B0604020202020204" pitchFamily="34" charset="0"/>
              </a:rPr>
              <a:t>DESARROLLO DE LA INNOVACION</a:t>
            </a:r>
            <a:endParaRPr lang="es-BO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628" name="CuadroTexto 2"/>
          <p:cNvSpPr txBox="1"/>
          <p:nvPr/>
        </p:nvSpPr>
        <p:spPr>
          <a:xfrm>
            <a:off x="1280644" y="785324"/>
            <a:ext cx="10345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BO" b="1" dirty="0">
                <a:latin typeface="Arial" panose="020B0604020202020204" pitchFamily="34" charset="0"/>
                <a:cs typeface="Arial" panose="020B0604020202020204" pitchFamily="34" charset="0"/>
              </a:rPr>
              <a:t>Recursos humanos y materiales</a:t>
            </a:r>
            <a:endParaRPr lang="es-BO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629" name="CuadroTexto 2"/>
          <p:cNvSpPr txBox="1"/>
          <p:nvPr/>
        </p:nvSpPr>
        <p:spPr>
          <a:xfrm>
            <a:off x="1280645" y="1536174"/>
            <a:ext cx="9630710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Recursos humanos</a:t>
            </a:r>
            <a:endParaRPr lang="en-US" sz="2400" dirty="0">
              <a:solidFill>
                <a:schemeClr val="accent2">
                  <a:lumMod val="50000"/>
                </a:schemeClr>
              </a:solidFill>
            </a:endParaRPr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Desarrollador Gráfico: Responsable de crear elementos visuales y gráficos para la aplicación móvil.</a:t>
            </a:r>
            <a:endParaRPr lang="en-US" sz="2000" dirty="0"/>
          </a:p>
          <a:p>
            <a:endParaRPr lang="en-US" sz="2000" dirty="0"/>
          </a:p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Recursos materiales </a:t>
            </a:r>
            <a:endParaRPr lang="en-US" sz="2400" dirty="0">
              <a:solidFill>
                <a:schemeClr val="accent2">
                  <a:lumMod val="50000"/>
                </a:schemeClr>
              </a:solidFill>
            </a:endParaRPr>
          </a:p>
          <a:p>
            <a:endParaRPr lang="en-US" sz="2000" dirty="0">
              <a:solidFill>
                <a:schemeClr val="accent2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Computadora o laptops, para el desarrollo y planificación de nuestra página web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Dispositivos móviles, para la prueba y revisión de nuestra página  web.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Plataforma  Google Sites, para crear el prototipo de la página web ECOBOLIVIA. 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Google Maps, para visualizar los puntos más cercanos en los que se mostrara información de las especies en peligro de extinción, tanto flora como fauna.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Título 1"/>
          <p:cNvSpPr>
            <a:spLocks noGrp="1"/>
          </p:cNvSpPr>
          <p:nvPr>
            <p:ph type="title"/>
          </p:nvPr>
        </p:nvSpPr>
        <p:spPr>
          <a:xfrm>
            <a:off x="1296147" y="466725"/>
            <a:ext cx="6375400" cy="447675"/>
          </a:xfrm>
        </p:spPr>
        <p:txBody>
          <a:bodyPr>
            <a:normAutofit/>
          </a:bodyPr>
          <a:lstStyle/>
          <a:p>
            <a:r>
              <a:rPr lang="es-BO" sz="2400" dirty="0">
                <a:latin typeface="Arial" panose="020B0604020202020204" pitchFamily="34" charset="0"/>
                <a:cs typeface="Arial" panose="020B0604020202020204" pitchFamily="34" charset="0"/>
              </a:rPr>
              <a:t>DESARROLLO DE LA INNOVACION</a:t>
            </a:r>
            <a:endParaRPr lang="es-BO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97161" name="Imagen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6147" y="1220491"/>
            <a:ext cx="4176059" cy="3248046"/>
          </a:xfrm>
          <a:prstGeom prst="rect">
            <a:avLst/>
          </a:prstGeom>
        </p:spPr>
      </p:pic>
      <p:sp>
        <p:nvSpPr>
          <p:cNvPr id="1048631" name="CuadroTexto 2"/>
          <p:cNvSpPr txBox="1"/>
          <p:nvPr/>
        </p:nvSpPr>
        <p:spPr>
          <a:xfrm>
            <a:off x="1137798" y="4636949"/>
            <a:ext cx="4799853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/>
              <a:t>1.- Como primer paso creamos una cuenta para nuestra página web.</a:t>
            </a:r>
            <a:endParaRPr lang="en-US" sz="2000" dirty="0"/>
          </a:p>
          <a:p>
            <a:pPr algn="l"/>
            <a:r>
              <a:rPr lang="en-US" sz="2000" dirty="0"/>
              <a:t>Y de esta manera vamos a poder guardar nuestro documento y crear la página en Google Sites.</a:t>
            </a:r>
            <a:endParaRPr lang="en-US" sz="2000" dirty="0"/>
          </a:p>
          <a:p>
            <a:pPr algn="l"/>
            <a:endParaRPr lang="en-US" dirty="0"/>
          </a:p>
        </p:txBody>
      </p:sp>
      <p:pic>
        <p:nvPicPr>
          <p:cNvPr id="2097162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027" y="619650"/>
            <a:ext cx="2579171" cy="3848887"/>
          </a:xfrm>
          <a:prstGeom prst="rect">
            <a:avLst/>
          </a:prstGeom>
        </p:spPr>
      </p:pic>
      <p:sp>
        <p:nvSpPr>
          <p:cNvPr id="1048632" name="CuadroTexto 4"/>
          <p:cNvSpPr txBox="1"/>
          <p:nvPr/>
        </p:nvSpPr>
        <p:spPr>
          <a:xfrm>
            <a:off x="6375721" y="4869142"/>
            <a:ext cx="465903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/>
              <a:t>2.- Como segundo paso es entrar a la página “My maps” para poder señalar las especies en peligro de extinción y su ubicación.</a:t>
            </a:r>
            <a:endParaRPr lang="en-US" sz="2000" dirty="0"/>
          </a:p>
          <a:p>
            <a:pPr algn="l"/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Título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8285627" cy="549339"/>
          </a:xfrm>
        </p:spPr>
        <p:txBody>
          <a:bodyPr>
            <a:normAutofit/>
          </a:bodyPr>
          <a:lstStyle/>
          <a:p>
            <a:r>
              <a:rPr lang="en-US" sz="1800" dirty="0"/>
              <a:t>DISEÑO DE INNOVACIÓN </a:t>
            </a:r>
            <a:endParaRPr lang="en-US" sz="1800" dirty="0"/>
          </a:p>
        </p:txBody>
      </p:sp>
      <p:pic>
        <p:nvPicPr>
          <p:cNvPr id="2097163" name="Marcador de contenido 4"/>
          <p:cNvPicPr>
            <a:picLocks noGrp="1"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1295402" y="1437357"/>
            <a:ext cx="1715949" cy="1715949"/>
          </a:xfrm>
          <a:prstGeom prst="rect">
            <a:avLst/>
          </a:prstGeom>
        </p:spPr>
      </p:pic>
      <p:pic>
        <p:nvPicPr>
          <p:cNvPr id="2097164" name="Marcador de contenido 9"/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16902" t="16123" r="7907" b="19174"/>
          <a:stretch>
            <a:fillRect/>
          </a:stretch>
        </p:blipFill>
        <p:spPr>
          <a:xfrm>
            <a:off x="3249718" y="1437357"/>
            <a:ext cx="1801533" cy="1715949"/>
          </a:xfrm>
          <a:prstGeom prst="rect">
            <a:avLst/>
          </a:prstGeom>
        </p:spPr>
      </p:pic>
      <p:pic>
        <p:nvPicPr>
          <p:cNvPr id="2097165" name="Imagen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6392" y="1367329"/>
            <a:ext cx="1801533" cy="1607250"/>
          </a:xfrm>
          <a:prstGeom prst="rect">
            <a:avLst/>
          </a:prstGeom>
        </p:spPr>
      </p:pic>
      <p:sp>
        <p:nvSpPr>
          <p:cNvPr id="1048634" name="CuadroTexto 11"/>
          <p:cNvSpPr txBox="1"/>
          <p:nvPr/>
        </p:nvSpPr>
        <p:spPr>
          <a:xfrm>
            <a:off x="5210734" y="2512732"/>
            <a:ext cx="1801533" cy="358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1048635" name="CuadroTexto 12"/>
          <p:cNvSpPr txBox="1"/>
          <p:nvPr/>
        </p:nvSpPr>
        <p:spPr>
          <a:xfrm>
            <a:off x="1295402" y="3608531"/>
            <a:ext cx="1059179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/>
              <a:t>Google. Navegador web nos permitió obtener imágenes , información sobre nuestro proyecto.</a:t>
            </a:r>
            <a:endParaRPr lang="en-US" sz="2400" dirty="0"/>
          </a:p>
          <a:p>
            <a:pPr algn="l"/>
            <a:r>
              <a:rPr lang="en-US" sz="2400" dirty="0"/>
              <a:t>Canva. Para la creación del logo de nuestro proyecto.</a:t>
            </a:r>
            <a:endParaRPr lang="en-US" sz="2400" dirty="0"/>
          </a:p>
          <a:p>
            <a:pPr algn="l"/>
            <a:r>
              <a:rPr lang="en-US" sz="2400" dirty="0"/>
              <a:t>Drive. Para guardar y subir de manera segura nuestros avances.</a:t>
            </a:r>
            <a:endParaRPr lang="en-US" sz="2400" dirty="0"/>
          </a:p>
          <a:p>
            <a:pPr algn="l"/>
            <a:r>
              <a:rPr lang="en-US" sz="2400" dirty="0"/>
              <a:t>Kahoot. Para la creación de nuestros mini juegos lúdicos.</a:t>
            </a:r>
            <a:endParaRPr lang="en-US" sz="2400" dirty="0"/>
          </a:p>
          <a:p>
            <a:pPr algn="l"/>
            <a:r>
              <a:rPr lang="en-US" sz="2400" dirty="0"/>
              <a:t>Visual Studio Code. No permitió la creación de código HTML y código CSS.</a:t>
            </a:r>
            <a:endParaRPr lang="en-US" sz="240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6292" y="1140619"/>
            <a:ext cx="2058277" cy="205827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8215" y="1483242"/>
            <a:ext cx="1894754" cy="153956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DISEÑO DE LA INNOVACIÓN </a:t>
            </a:r>
            <a:endParaRPr lang="en-US" sz="2800" dirty="0"/>
          </a:p>
        </p:txBody>
      </p:sp>
      <p:pic>
        <p:nvPicPr>
          <p:cNvPr id="2097166" name="Marcador de contenido 4"/>
          <p:cNvPicPr>
            <a:picLocks noGrp="1"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1113408" y="1696719"/>
            <a:ext cx="2726608" cy="3856263"/>
          </a:xfrm>
          <a:prstGeom prst="rect">
            <a:avLst/>
          </a:prstGeom>
        </p:spPr>
      </p:pic>
      <p:pic>
        <p:nvPicPr>
          <p:cNvPr id="2097167" name="Marcador de contenido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840016" y="2713978"/>
            <a:ext cx="3985026" cy="1786390"/>
          </a:xfrm>
          <a:prstGeom prst="rect">
            <a:avLst/>
          </a:prstGeom>
        </p:spPr>
      </p:pic>
      <p:pic>
        <p:nvPicPr>
          <p:cNvPr id="2097168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5042" y="1788973"/>
            <a:ext cx="3360205" cy="325367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Título 1"/>
          <p:cNvSpPr>
            <a:spLocks noGrp="1"/>
          </p:cNvSpPr>
          <p:nvPr>
            <p:ph type="title"/>
          </p:nvPr>
        </p:nvSpPr>
        <p:spPr>
          <a:xfrm>
            <a:off x="1329767" y="988825"/>
            <a:ext cx="9601196" cy="448235"/>
          </a:xfrm>
        </p:spPr>
        <p:txBody>
          <a:bodyPr>
            <a:normAutofit/>
          </a:bodyPr>
          <a:lstStyle/>
          <a:p>
            <a:r>
              <a:rPr lang="en-US" sz="1800" dirty="0"/>
              <a:t>DISEÑO DE LA INNOVACIÓN </a:t>
            </a:r>
            <a:endParaRPr lang="en-US" sz="1800" dirty="0"/>
          </a:p>
        </p:txBody>
      </p:sp>
      <p:pic>
        <p:nvPicPr>
          <p:cNvPr id="2097169" name="Marcador de contenido 4"/>
          <p:cNvPicPr>
            <a:picLocks noGrp="1"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5762251" y="2144336"/>
            <a:ext cx="5168711" cy="3500721"/>
          </a:xfrm>
          <a:prstGeom prst="rect">
            <a:avLst/>
          </a:prstGeom>
        </p:spPr>
      </p:pic>
      <p:pic>
        <p:nvPicPr>
          <p:cNvPr id="2097170" name="Marcador de contenido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45882" y="2134586"/>
            <a:ext cx="4402863" cy="351047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596900"/>
            <a:ext cx="4559300" cy="393700"/>
          </a:xfrm>
        </p:spPr>
        <p:txBody>
          <a:bodyPr>
            <a:normAutofit fontScale="90000"/>
          </a:bodyPr>
          <a:lstStyle/>
          <a:p>
            <a:r>
              <a:rPr lang="es-MX" sz="2400" dirty="0"/>
              <a:t>DESARROLLO DE LA INNOVACION</a:t>
            </a:r>
            <a:endParaRPr lang="es-BO" sz="2400" dirty="0"/>
          </a:p>
        </p:txBody>
      </p:sp>
      <p:pic>
        <p:nvPicPr>
          <p:cNvPr id="6" name="Marcador de contenido 5"/>
          <p:cNvPicPr>
            <a:picLocks noGrp="1" noChangeAspect="1"/>
          </p:cNvPicPr>
          <p:nvPr>
            <p:ph sz="half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594" y="1130705"/>
            <a:ext cx="6270420" cy="4406495"/>
          </a:xfrm>
        </p:spPr>
      </p:pic>
      <p:pic>
        <p:nvPicPr>
          <p:cNvPr id="8" name="Marcador de contenido 7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49" y="5537200"/>
            <a:ext cx="11252200" cy="1155321"/>
          </a:xfr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33293" y="444497"/>
            <a:ext cx="4724400" cy="304800"/>
          </a:xfrm>
        </p:spPr>
        <p:txBody>
          <a:bodyPr>
            <a:normAutofit fontScale="90000"/>
          </a:bodyPr>
          <a:lstStyle/>
          <a:p>
            <a:r>
              <a:rPr lang="es-BO" sz="2400" dirty="0"/>
              <a:t>DESARROLLO DE LA INNOVACION</a:t>
            </a:r>
            <a:endParaRPr lang="es-BO" sz="2400" dirty="0"/>
          </a:p>
        </p:txBody>
      </p:sp>
      <p:pic>
        <p:nvPicPr>
          <p:cNvPr id="6" name="Marcador de contenido 5"/>
          <p:cNvPicPr>
            <a:picLocks noGrp="1" noChangeAspect="1"/>
          </p:cNvPicPr>
          <p:nvPr>
            <p:ph sz="half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38" y="914398"/>
            <a:ext cx="10904098" cy="3848101"/>
          </a:xfr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34686" y="317500"/>
            <a:ext cx="4584700" cy="444500"/>
          </a:xfrm>
        </p:spPr>
        <p:txBody>
          <a:bodyPr>
            <a:normAutofit/>
          </a:bodyPr>
          <a:lstStyle/>
          <a:p>
            <a:r>
              <a:rPr lang="es-BO" sz="2400" dirty="0"/>
              <a:t>DESARROLLO DE LA INNOVACION</a:t>
            </a:r>
            <a:endParaRPr lang="es-BO" sz="2400" dirty="0"/>
          </a:p>
        </p:txBody>
      </p:sp>
      <p:pic>
        <p:nvPicPr>
          <p:cNvPr id="6" name="Marcador de contenido 5"/>
          <p:cNvPicPr>
            <a:picLocks noGrp="1" noChangeAspect="1"/>
          </p:cNvPicPr>
          <p:nvPr>
            <p:ph sz="half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120" y="748806"/>
            <a:ext cx="9872869" cy="2680194"/>
          </a:xfrm>
        </p:spPr>
      </p:pic>
      <p:pic>
        <p:nvPicPr>
          <p:cNvPr id="8" name="Marcador de contenido 7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615" y="3530861"/>
            <a:ext cx="7810889" cy="2578968"/>
          </a:xfr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BO" dirty="0"/>
              <a:t>NUESTRA PAGINA</a:t>
            </a:r>
            <a:endParaRPr lang="es-BO" dirty="0"/>
          </a:p>
        </p:txBody>
      </p:sp>
      <p:pic>
        <p:nvPicPr>
          <p:cNvPr id="2097171" name="Imagen 2097155"/>
          <p:cNvPicPr/>
          <p:nvPr/>
        </p:nvPicPr>
        <p:blipFill>
          <a:blip r:embed="rId1"/>
          <a:stretch>
            <a:fillRect/>
          </a:stretch>
        </p:blipFill>
        <p:spPr>
          <a:xfrm>
            <a:off x="4106572" y="1813167"/>
            <a:ext cx="4253657" cy="393449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Título 1"/>
          <p:cNvSpPr>
            <a:spLocks noGrp="1"/>
          </p:cNvSpPr>
          <p:nvPr>
            <p:ph type="title"/>
          </p:nvPr>
        </p:nvSpPr>
        <p:spPr>
          <a:xfrm>
            <a:off x="1384300" y="2959470"/>
            <a:ext cx="4787900" cy="346075"/>
          </a:xfrm>
        </p:spPr>
        <p:txBody>
          <a:bodyPr>
            <a:normAutofit fontScale="90000"/>
          </a:bodyPr>
          <a:lstStyle/>
          <a:p>
            <a:r>
              <a:rPr lang="es-BO" sz="2400" dirty="0">
                <a:latin typeface="Arial" panose="020B0604020202020204" pitchFamily="34" charset="0"/>
                <a:cs typeface="Arial" panose="020B0604020202020204" pitchFamily="34" charset="0"/>
              </a:rPr>
              <a:t>RECOMENDACIONES</a:t>
            </a:r>
            <a:endParaRPr lang="es-BO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8644" name="CuadroTexto 2"/>
          <p:cNvSpPr txBox="1"/>
          <p:nvPr/>
        </p:nvSpPr>
        <p:spPr>
          <a:xfrm>
            <a:off x="1384300" y="3429000"/>
            <a:ext cx="9897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Compartir la página para llegar a más personas y generar conciencia ambiental.</a:t>
            </a:r>
            <a:endParaRPr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Comprobar si la página web funciona en todos los dispositivos móviles.</a:t>
            </a: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1384300" y="343026"/>
            <a:ext cx="3396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/>
              <a:t>CONCLUSIONES</a:t>
            </a:r>
            <a:endParaRPr lang="es-BO" sz="24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1384300" y="804691"/>
            <a:ext cx="90133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La página web es un recurso accesible para poder informar y concientizar sobre los problemas ambientales. </a:t>
            </a: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La implementación de una página web sobre el medio ambiente puede ser un gran aliado para promover el cuidado del planeta y concientizar a más personas sobre esta problemática.</a:t>
            </a: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Este proyecto nos inspira a seguir utilizando plataformas digitales para defender el ecosistema boliviano.</a:t>
            </a:r>
            <a:endParaRPr lang="es-MX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Título 1"/>
          <p:cNvSpPr>
            <a:spLocks noGrp="1"/>
          </p:cNvSpPr>
          <p:nvPr>
            <p:ph type="title"/>
          </p:nvPr>
        </p:nvSpPr>
        <p:spPr>
          <a:xfrm>
            <a:off x="3102428" y="2535224"/>
            <a:ext cx="6455229" cy="774034"/>
          </a:xfrm>
        </p:spPr>
        <p:txBody>
          <a:bodyPr>
            <a:normAutofit fontScale="90000"/>
          </a:bodyPr>
          <a:lstStyle/>
          <a:p>
            <a:pPr algn="r"/>
            <a:r>
              <a:rPr lang="es-BO" sz="36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GRACIAS POR SU ATENCIÓN </a:t>
            </a:r>
            <a:endParaRPr lang="es-BO" sz="36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corte">
  <a:themeElements>
    <a:clrScheme name="Recorte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Recorte">
      <a:maj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cort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TM10001105[[fn=Recorte]]</Template>
  <TotalTime>0</TotalTime>
  <Words>6542</Words>
  <Application>WPS Presentation</Application>
  <PresentationFormat>Panorámica</PresentationFormat>
  <Paragraphs>154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Arial</vt:lpstr>
      <vt:lpstr>SimSun</vt:lpstr>
      <vt:lpstr>Wingdings</vt:lpstr>
      <vt:lpstr>Franklin Gothic Book</vt:lpstr>
      <vt:lpstr>Trebuchet MS</vt:lpstr>
      <vt:lpstr>Arial MT</vt:lpstr>
      <vt:lpstr>Microsoft YaHei</vt:lpstr>
      <vt:lpstr>Arial Unicode MS</vt:lpstr>
      <vt:lpstr>Recorte</vt:lpstr>
      <vt:lpstr>UNIDAD EDUCATIVA TÉCNICO- HUMANÍSTICO  "PAULO FREIRE" CARRERA DE SISTEMAS INFORMÁTICOS</vt:lpstr>
      <vt:lpstr>INTRODUCCIÓN</vt:lpstr>
      <vt:lpstr>PLANTEAMIENTO DEL PROBLEMA</vt:lpstr>
      <vt:lpstr>FORMULACIÓN EL PROBLEMA</vt:lpstr>
      <vt:lpstr>OBJETIVOS ESPECÍFICOS </vt:lpstr>
      <vt:lpstr>JUSTIFICACIÓN</vt:lpstr>
      <vt:lpstr>MARCO CONCEPTUAL </vt:lpstr>
      <vt:lpstr>DESARROLLO DE LA INNOVACIÓN</vt:lpstr>
      <vt:lpstr>PowerPoint 演示文稿</vt:lpstr>
      <vt:lpstr>Calidad del producto o servicio</vt:lpstr>
      <vt:lpstr>DESARROLLO DE LA INNOVACION</vt:lpstr>
      <vt:lpstr>DESARROLLO DE LA INNOVACION</vt:lpstr>
      <vt:lpstr>DISEÑO DE INNOVACIÓN </vt:lpstr>
      <vt:lpstr>DISEÑO DE LA INNOVACIÓN </vt:lpstr>
      <vt:lpstr>DISEÑO DE LA INNOVACIÓN </vt:lpstr>
      <vt:lpstr>DESARROLLO DE LA INNOVACION</vt:lpstr>
      <vt:lpstr>DESARROLLO DE LA INNOVACION</vt:lpstr>
      <vt:lpstr>DESARROLLO DE LA INNOVACION</vt:lpstr>
      <vt:lpstr>NUESTRA PAGINA</vt:lpstr>
      <vt:lpstr>RECOMENDACIONES</vt:lpstr>
      <vt:lpstr>GRACIAS POR SU ATENCIÓN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EDUCATIVA TÉCNICO- HUMANÍSTICO  "PAULO FREIRE" CARRERA DE SISTEMAS INFORMÁTICOS</dc:title>
  <dc:creator>Quispe</dc:creator>
  <cp:lastModifiedBy>WIN</cp:lastModifiedBy>
  <cp:revision>15</cp:revision>
  <dcterms:created xsi:type="dcterms:W3CDTF">2025-11-02T05:16:00Z</dcterms:created>
  <dcterms:modified xsi:type="dcterms:W3CDTF">2025-11-12T16:44:53Z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60d1cf27793c4fb48973336685174747</vt:lpwstr>
  </property>
  <property fmtid="{D5CDD505-2E9C-101B-9397-08002B2CF9AE}" pid="3" name="KSOProductBuildVer">
    <vt:lpwstr>2058-12.2.0.23155</vt:lpwstr>
  </property>
</Properties>
</file>